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8" r:id="rId1"/>
  </p:sldMasterIdLst>
  <p:sldIdLst>
    <p:sldId id="258" r:id="rId2"/>
  </p:sldIdLst>
  <p:sldSz cx="7559675" cy="4679950"/>
  <p:notesSz cx="6889750" cy="1002188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10" autoAdjust="0"/>
    <p:restoredTop sz="94660"/>
  </p:normalViewPr>
  <p:slideViewPr>
    <p:cSldViewPr snapToGrid="0">
      <p:cViewPr varScale="1">
        <p:scale>
          <a:sx n="209" d="100"/>
          <a:sy n="209" d="100"/>
        </p:scale>
        <p:origin x="180" y="4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44960" y="765909"/>
            <a:ext cx="5669756" cy="1629316"/>
          </a:xfrm>
        </p:spPr>
        <p:txBody>
          <a:bodyPr anchor="b"/>
          <a:lstStyle>
            <a:lvl1pPr algn="ctr">
              <a:defRPr sz="372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44960" y="2458058"/>
            <a:ext cx="5669756" cy="1129904"/>
          </a:xfrm>
        </p:spPr>
        <p:txBody>
          <a:bodyPr/>
          <a:lstStyle>
            <a:lvl1pPr marL="0" indent="0" algn="ctr">
              <a:buNone/>
              <a:defRPr sz="1488"/>
            </a:lvl1pPr>
            <a:lvl2pPr marL="283510" indent="0" algn="ctr">
              <a:buNone/>
              <a:defRPr sz="1240"/>
            </a:lvl2pPr>
            <a:lvl3pPr marL="567019" indent="0" algn="ctr">
              <a:buNone/>
              <a:defRPr sz="1116"/>
            </a:lvl3pPr>
            <a:lvl4pPr marL="850529" indent="0" algn="ctr">
              <a:buNone/>
              <a:defRPr sz="992"/>
            </a:lvl4pPr>
            <a:lvl5pPr marL="1134039" indent="0" algn="ctr">
              <a:buNone/>
              <a:defRPr sz="992"/>
            </a:lvl5pPr>
            <a:lvl6pPr marL="1417549" indent="0" algn="ctr">
              <a:buNone/>
              <a:defRPr sz="992"/>
            </a:lvl6pPr>
            <a:lvl7pPr marL="1701058" indent="0" algn="ctr">
              <a:buNone/>
              <a:defRPr sz="992"/>
            </a:lvl7pPr>
            <a:lvl8pPr marL="1984568" indent="0" algn="ctr">
              <a:buNone/>
              <a:defRPr sz="992"/>
            </a:lvl8pPr>
            <a:lvl9pPr marL="2268078" indent="0" algn="ctr">
              <a:buNone/>
              <a:defRPr sz="992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5244653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3784272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15790" y="1166738"/>
            <a:ext cx="6520220" cy="1946729"/>
          </a:xfrm>
        </p:spPr>
        <p:txBody>
          <a:bodyPr anchor="b"/>
          <a:lstStyle>
            <a:lvl1pPr>
              <a:defRPr sz="3721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5790" y="3131884"/>
            <a:ext cx="6520220" cy="1023739"/>
          </a:xfrm>
        </p:spPr>
        <p:txBody>
          <a:bodyPr/>
          <a:lstStyle>
            <a:lvl1pPr marL="0" indent="0">
              <a:buNone/>
              <a:defRPr sz="1488">
                <a:solidFill>
                  <a:schemeClr val="tx1">
                    <a:tint val="75000"/>
                  </a:schemeClr>
                </a:solidFill>
              </a:defRPr>
            </a:lvl1pPr>
            <a:lvl2pPr marL="283510" indent="0">
              <a:buNone/>
              <a:defRPr sz="1240">
                <a:solidFill>
                  <a:schemeClr val="tx1">
                    <a:tint val="75000"/>
                  </a:schemeClr>
                </a:solidFill>
              </a:defRPr>
            </a:lvl2pPr>
            <a:lvl3pPr marL="567019" indent="0">
              <a:buNone/>
              <a:defRPr sz="1116">
                <a:solidFill>
                  <a:schemeClr val="tx1">
                    <a:tint val="75000"/>
                  </a:schemeClr>
                </a:solidFill>
              </a:defRPr>
            </a:lvl3pPr>
            <a:lvl4pPr marL="850529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4pPr>
            <a:lvl5pPr marL="1134039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5pPr>
            <a:lvl6pPr marL="1417549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6pPr>
            <a:lvl7pPr marL="170105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7pPr>
            <a:lvl8pPr marL="198456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8pPr>
            <a:lvl9pPr marL="2268078" indent="0">
              <a:buNone/>
              <a:defRPr sz="992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768003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19728" y="1245820"/>
            <a:ext cx="3212862" cy="29693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27085" y="1245820"/>
            <a:ext cx="3212862" cy="2969385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438718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249164"/>
            <a:ext cx="6520220" cy="904574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20712" y="1147238"/>
            <a:ext cx="3198097" cy="562244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510" indent="0">
              <a:buNone/>
              <a:defRPr sz="1240" b="1"/>
            </a:lvl2pPr>
            <a:lvl3pPr marL="567019" indent="0">
              <a:buNone/>
              <a:defRPr sz="1116" b="1"/>
            </a:lvl3pPr>
            <a:lvl4pPr marL="850529" indent="0">
              <a:buNone/>
              <a:defRPr sz="992" b="1"/>
            </a:lvl4pPr>
            <a:lvl5pPr marL="1134039" indent="0">
              <a:buNone/>
              <a:defRPr sz="992" b="1"/>
            </a:lvl5pPr>
            <a:lvl6pPr marL="1417549" indent="0">
              <a:buNone/>
              <a:defRPr sz="992" b="1"/>
            </a:lvl6pPr>
            <a:lvl7pPr marL="1701058" indent="0">
              <a:buNone/>
              <a:defRPr sz="992" b="1"/>
            </a:lvl7pPr>
            <a:lvl8pPr marL="1984568" indent="0">
              <a:buNone/>
              <a:defRPr sz="992" b="1"/>
            </a:lvl8pPr>
            <a:lvl9pPr marL="2268078" indent="0">
              <a:buNone/>
              <a:defRPr sz="99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20712" y="1709482"/>
            <a:ext cx="3198097" cy="25143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27085" y="1147238"/>
            <a:ext cx="3213847" cy="562244"/>
          </a:xfrm>
        </p:spPr>
        <p:txBody>
          <a:bodyPr anchor="b"/>
          <a:lstStyle>
            <a:lvl1pPr marL="0" indent="0">
              <a:buNone/>
              <a:defRPr sz="1488" b="1"/>
            </a:lvl1pPr>
            <a:lvl2pPr marL="283510" indent="0">
              <a:buNone/>
              <a:defRPr sz="1240" b="1"/>
            </a:lvl2pPr>
            <a:lvl3pPr marL="567019" indent="0">
              <a:buNone/>
              <a:defRPr sz="1116" b="1"/>
            </a:lvl3pPr>
            <a:lvl4pPr marL="850529" indent="0">
              <a:buNone/>
              <a:defRPr sz="992" b="1"/>
            </a:lvl4pPr>
            <a:lvl5pPr marL="1134039" indent="0">
              <a:buNone/>
              <a:defRPr sz="992" b="1"/>
            </a:lvl5pPr>
            <a:lvl6pPr marL="1417549" indent="0">
              <a:buNone/>
              <a:defRPr sz="992" b="1"/>
            </a:lvl6pPr>
            <a:lvl7pPr marL="1701058" indent="0">
              <a:buNone/>
              <a:defRPr sz="992" b="1"/>
            </a:lvl7pPr>
            <a:lvl8pPr marL="1984568" indent="0">
              <a:buNone/>
              <a:defRPr sz="992" b="1"/>
            </a:lvl8pPr>
            <a:lvl9pPr marL="2268078" indent="0">
              <a:buNone/>
              <a:defRPr sz="992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27085" y="1709482"/>
            <a:ext cx="3213847" cy="2514390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261808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268152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256879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11997"/>
            <a:ext cx="2438192" cy="1091988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13847" y="673826"/>
            <a:ext cx="3827085" cy="3325798"/>
          </a:xfrm>
        </p:spPr>
        <p:txBody>
          <a:bodyPr/>
          <a:lstStyle>
            <a:lvl1pPr>
              <a:defRPr sz="1984"/>
            </a:lvl1pPr>
            <a:lvl2pPr>
              <a:defRPr sz="1736"/>
            </a:lvl2pPr>
            <a:lvl3pPr>
              <a:defRPr sz="1488"/>
            </a:lvl3pPr>
            <a:lvl4pPr>
              <a:defRPr sz="1240"/>
            </a:lvl4pPr>
            <a:lvl5pPr>
              <a:defRPr sz="1240"/>
            </a:lvl5pPr>
            <a:lvl6pPr>
              <a:defRPr sz="1240"/>
            </a:lvl6pPr>
            <a:lvl7pPr>
              <a:defRPr sz="1240"/>
            </a:lvl7pPr>
            <a:lvl8pPr>
              <a:defRPr sz="1240"/>
            </a:lvl8pPr>
            <a:lvl9pPr>
              <a:defRPr sz="124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403985"/>
            <a:ext cx="2438192" cy="2601056"/>
          </a:xfrm>
        </p:spPr>
        <p:txBody>
          <a:bodyPr/>
          <a:lstStyle>
            <a:lvl1pPr marL="0" indent="0">
              <a:buNone/>
              <a:defRPr sz="992"/>
            </a:lvl1pPr>
            <a:lvl2pPr marL="283510" indent="0">
              <a:buNone/>
              <a:defRPr sz="868"/>
            </a:lvl2pPr>
            <a:lvl3pPr marL="567019" indent="0">
              <a:buNone/>
              <a:defRPr sz="744"/>
            </a:lvl3pPr>
            <a:lvl4pPr marL="850529" indent="0">
              <a:buNone/>
              <a:defRPr sz="620"/>
            </a:lvl4pPr>
            <a:lvl5pPr marL="1134039" indent="0">
              <a:buNone/>
              <a:defRPr sz="620"/>
            </a:lvl5pPr>
            <a:lvl6pPr marL="1417549" indent="0">
              <a:buNone/>
              <a:defRPr sz="620"/>
            </a:lvl6pPr>
            <a:lvl7pPr marL="1701058" indent="0">
              <a:buNone/>
              <a:defRPr sz="620"/>
            </a:lvl7pPr>
            <a:lvl8pPr marL="1984568" indent="0">
              <a:buNone/>
              <a:defRPr sz="620"/>
            </a:lvl8pPr>
            <a:lvl9pPr marL="2268078" indent="0">
              <a:buNone/>
              <a:defRPr sz="62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00224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20712" y="311997"/>
            <a:ext cx="2438192" cy="1091988"/>
          </a:xfrm>
        </p:spPr>
        <p:txBody>
          <a:bodyPr anchor="b"/>
          <a:lstStyle>
            <a:lvl1pPr>
              <a:defRPr sz="1984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213847" y="673826"/>
            <a:ext cx="3827085" cy="3325798"/>
          </a:xfrm>
        </p:spPr>
        <p:txBody>
          <a:bodyPr anchor="t"/>
          <a:lstStyle>
            <a:lvl1pPr marL="0" indent="0">
              <a:buNone/>
              <a:defRPr sz="1984"/>
            </a:lvl1pPr>
            <a:lvl2pPr marL="283510" indent="0">
              <a:buNone/>
              <a:defRPr sz="1736"/>
            </a:lvl2pPr>
            <a:lvl3pPr marL="567019" indent="0">
              <a:buNone/>
              <a:defRPr sz="1488"/>
            </a:lvl3pPr>
            <a:lvl4pPr marL="850529" indent="0">
              <a:buNone/>
              <a:defRPr sz="1240"/>
            </a:lvl4pPr>
            <a:lvl5pPr marL="1134039" indent="0">
              <a:buNone/>
              <a:defRPr sz="1240"/>
            </a:lvl5pPr>
            <a:lvl6pPr marL="1417549" indent="0">
              <a:buNone/>
              <a:defRPr sz="1240"/>
            </a:lvl6pPr>
            <a:lvl7pPr marL="1701058" indent="0">
              <a:buNone/>
              <a:defRPr sz="1240"/>
            </a:lvl7pPr>
            <a:lvl8pPr marL="1984568" indent="0">
              <a:buNone/>
              <a:defRPr sz="1240"/>
            </a:lvl8pPr>
            <a:lvl9pPr marL="2268078" indent="0">
              <a:buNone/>
              <a:defRPr sz="124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20712" y="1403985"/>
            <a:ext cx="2438192" cy="2601056"/>
          </a:xfrm>
        </p:spPr>
        <p:txBody>
          <a:bodyPr/>
          <a:lstStyle>
            <a:lvl1pPr marL="0" indent="0">
              <a:buNone/>
              <a:defRPr sz="992"/>
            </a:lvl1pPr>
            <a:lvl2pPr marL="283510" indent="0">
              <a:buNone/>
              <a:defRPr sz="868"/>
            </a:lvl2pPr>
            <a:lvl3pPr marL="567019" indent="0">
              <a:buNone/>
              <a:defRPr sz="744"/>
            </a:lvl3pPr>
            <a:lvl4pPr marL="850529" indent="0">
              <a:buNone/>
              <a:defRPr sz="620"/>
            </a:lvl4pPr>
            <a:lvl5pPr marL="1134039" indent="0">
              <a:buNone/>
              <a:defRPr sz="620"/>
            </a:lvl5pPr>
            <a:lvl6pPr marL="1417549" indent="0">
              <a:buNone/>
              <a:defRPr sz="620"/>
            </a:lvl6pPr>
            <a:lvl7pPr marL="1701058" indent="0">
              <a:buNone/>
              <a:defRPr sz="620"/>
            </a:lvl7pPr>
            <a:lvl8pPr marL="1984568" indent="0">
              <a:buNone/>
              <a:defRPr sz="620"/>
            </a:lvl8pPr>
            <a:lvl9pPr marL="2268078" indent="0">
              <a:buNone/>
              <a:defRPr sz="62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1285426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256801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409892" y="249164"/>
            <a:ext cx="1630055" cy="3966041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519728" y="249164"/>
            <a:ext cx="4795669" cy="3966041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41A6A7-50F4-463B-910E-CFAB06BEAEBD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0541498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19728" y="249164"/>
            <a:ext cx="6520220" cy="90457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19728" y="1245820"/>
            <a:ext cx="6520220" cy="296938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19728" y="4337621"/>
            <a:ext cx="1700927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41A6A7-50F4-463B-910E-CFAB06BEAEBD}" type="datetimeFigureOut">
              <a:rPr lang="de-DE" smtClean="0"/>
              <a:t>20.10.2025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04143" y="4337621"/>
            <a:ext cx="2551390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39020" y="4337621"/>
            <a:ext cx="1700927" cy="24916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44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1F71EA9-8F64-41D2-B146-948977218CCE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438506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l" defTabSz="567019" rtl="0" eaLnBrk="1" latinLnBrk="0" hangingPunct="1">
        <a:lnSpc>
          <a:spcPct val="90000"/>
        </a:lnSpc>
        <a:spcBef>
          <a:spcPct val="0"/>
        </a:spcBef>
        <a:buNone/>
        <a:defRPr sz="2728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41755" indent="-141755" algn="l" defTabSz="567019" rtl="0" eaLnBrk="1" latinLnBrk="0" hangingPunct="1">
        <a:lnSpc>
          <a:spcPct val="90000"/>
        </a:lnSpc>
        <a:spcBef>
          <a:spcPts val="620"/>
        </a:spcBef>
        <a:buFont typeface="Arial" panose="020B0604020202020204" pitchFamily="34" charset="0"/>
        <a:buChar char="•"/>
        <a:defRPr sz="1736" kern="1200">
          <a:solidFill>
            <a:schemeClr val="tx1"/>
          </a:solidFill>
          <a:latin typeface="+mn-lt"/>
          <a:ea typeface="+mn-ea"/>
          <a:cs typeface="+mn-cs"/>
        </a:defRPr>
      </a:lvl1pPr>
      <a:lvl2pPr marL="425265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488" kern="1200">
          <a:solidFill>
            <a:schemeClr val="tx1"/>
          </a:solidFill>
          <a:latin typeface="+mn-lt"/>
          <a:ea typeface="+mn-ea"/>
          <a:cs typeface="+mn-cs"/>
        </a:defRPr>
      </a:lvl2pPr>
      <a:lvl3pPr marL="708774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240" kern="1200">
          <a:solidFill>
            <a:schemeClr val="tx1"/>
          </a:solidFill>
          <a:latin typeface="+mn-lt"/>
          <a:ea typeface="+mn-ea"/>
          <a:cs typeface="+mn-cs"/>
        </a:defRPr>
      </a:lvl3pPr>
      <a:lvl4pPr marL="992284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275794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55930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84281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212632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409833" indent="-141755" algn="l" defTabSz="567019" rtl="0" eaLnBrk="1" latinLnBrk="0" hangingPunct="1">
        <a:lnSpc>
          <a:spcPct val="90000"/>
        </a:lnSpc>
        <a:spcBef>
          <a:spcPts val="310"/>
        </a:spcBef>
        <a:buFont typeface="Arial" panose="020B0604020202020204" pitchFamily="34" charset="0"/>
        <a:buChar char="•"/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1pPr>
      <a:lvl2pPr marL="283510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2pPr>
      <a:lvl3pPr marL="56701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3pPr>
      <a:lvl4pPr marL="85052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4pPr>
      <a:lvl5pPr marL="113403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5pPr>
      <a:lvl6pPr marL="1417549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6pPr>
      <a:lvl7pPr marL="1701058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7pPr>
      <a:lvl8pPr marL="1984568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8pPr>
      <a:lvl9pPr marL="2268078" algn="l" defTabSz="567019" rtl="0" eaLnBrk="1" latinLnBrk="0" hangingPunct="1">
        <a:defRPr sz="1116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9F40F4F-055A-400D-A8D2-DF2C06AF5180}"/>
              </a:ext>
            </a:extLst>
          </p:cNvPr>
          <p:cNvGrpSpPr/>
          <p:nvPr/>
        </p:nvGrpSpPr>
        <p:grpSpPr>
          <a:xfrm>
            <a:off x="1624249" y="111413"/>
            <a:ext cx="4472082" cy="4472081"/>
            <a:chOff x="2608226" y="1345579"/>
            <a:chExt cx="3788509" cy="3788508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560AE87E-4453-4F60-ABAF-84596E066A02}"/>
                </a:ext>
              </a:extLst>
            </p:cNvPr>
            <p:cNvSpPr/>
            <p:nvPr/>
          </p:nvSpPr>
          <p:spPr>
            <a:xfrm>
              <a:off x="2608226" y="1345579"/>
              <a:ext cx="3788508" cy="3788508"/>
            </a:xfrm>
            <a:prstGeom prst="ellipse">
              <a:avLst/>
            </a:prstGeom>
            <a:solidFill>
              <a:schemeClr val="bg1"/>
            </a:solidFill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84698CF7-637D-4FF3-AFCA-11C3A0126CCA}"/>
                </a:ext>
              </a:extLst>
            </p:cNvPr>
            <p:cNvSpPr/>
            <p:nvPr/>
          </p:nvSpPr>
          <p:spPr>
            <a:xfrm>
              <a:off x="2608226" y="1784343"/>
              <a:ext cx="3788509" cy="2910980"/>
            </a:xfrm>
            <a:prstGeom prst="rect">
              <a:avLst/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6" name="Right Triangle 5">
              <a:extLst>
                <a:ext uri="{FF2B5EF4-FFF2-40B4-BE49-F238E27FC236}">
                  <a16:creationId xmlns:a16="http://schemas.microsoft.com/office/drawing/2014/main" id="{046DA639-B137-42BC-82EA-D64380FF0D5D}"/>
                </a:ext>
              </a:extLst>
            </p:cNvPr>
            <p:cNvSpPr/>
            <p:nvPr/>
          </p:nvSpPr>
          <p:spPr>
            <a:xfrm>
              <a:off x="3196205" y="1687870"/>
              <a:ext cx="192946" cy="192946"/>
            </a:xfrm>
            <a:prstGeom prst="rtTriangl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  <p:sp>
          <p:nvSpPr>
            <p:cNvPr id="7" name="Right Triangle 6">
              <a:extLst>
                <a:ext uri="{FF2B5EF4-FFF2-40B4-BE49-F238E27FC236}">
                  <a16:creationId xmlns:a16="http://schemas.microsoft.com/office/drawing/2014/main" id="{D4C23F88-B8B9-4DB3-B819-144890DA27AE}"/>
                </a:ext>
              </a:extLst>
            </p:cNvPr>
            <p:cNvSpPr/>
            <p:nvPr/>
          </p:nvSpPr>
          <p:spPr>
            <a:xfrm rot="10800000">
              <a:off x="5610413" y="4608508"/>
              <a:ext cx="192946" cy="192946"/>
            </a:xfrm>
            <a:prstGeom prst="rtTriangle">
              <a:avLst/>
            </a:prstGeom>
            <a:solidFill>
              <a:schemeClr val="tx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de-DE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13305106-1DC6-47FB-8419-153ABFB09606}"/>
              </a:ext>
            </a:extLst>
          </p:cNvPr>
          <p:cNvSpPr txBox="1"/>
          <p:nvPr/>
        </p:nvSpPr>
        <p:spPr>
          <a:xfrm>
            <a:off x="907233" y="910689"/>
            <a:ext cx="1228221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Realität</a:t>
            </a:r>
          </a:p>
        </p:txBody>
      </p:sp>
      <p:sp>
        <p:nvSpPr>
          <p:cNvPr id="12" name="Cloud 11">
            <a:extLst>
              <a:ext uri="{FF2B5EF4-FFF2-40B4-BE49-F238E27FC236}">
                <a16:creationId xmlns:a16="http://schemas.microsoft.com/office/drawing/2014/main" id="{6FC897C2-999C-4CA0-88AA-F2E0AD9A04E0}"/>
              </a:ext>
            </a:extLst>
          </p:cNvPr>
          <p:cNvSpPr/>
          <p:nvPr/>
        </p:nvSpPr>
        <p:spPr>
          <a:xfrm>
            <a:off x="4465601" y="1026119"/>
            <a:ext cx="3072500" cy="2890841"/>
          </a:xfrm>
          <a:prstGeom prst="cloud">
            <a:avLst/>
          </a:prstGeom>
          <a:blipFill>
            <a:blip r:embed="rId2">
              <a:duotone>
                <a:schemeClr val="accent3">
                  <a:shade val="45000"/>
                  <a:satMod val="135000"/>
                </a:schemeClr>
                <a:prstClr val="white"/>
              </a:duotone>
            </a:blip>
            <a:tile tx="0" ty="0" sx="100000" sy="100000" flip="none" algn="tl"/>
          </a:blipFill>
          <a:ln>
            <a:noFill/>
          </a:ln>
          <a:effectLst>
            <a:softEdge rad="127000"/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dirty="0"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20C00251-5025-4EF5-8399-8B2EBFFC145E}"/>
              </a:ext>
            </a:extLst>
          </p:cNvPr>
          <p:cNvSpPr txBox="1"/>
          <p:nvPr/>
        </p:nvSpPr>
        <p:spPr>
          <a:xfrm>
            <a:off x="4763245" y="1573616"/>
            <a:ext cx="27222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Wahrscheinlichkeitstheorie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BEAD075E-5354-4ABE-AB85-D5B071585A0C}"/>
              </a:ext>
            </a:extLst>
          </p:cNvPr>
          <p:cNvSpPr txBox="1"/>
          <p:nvPr/>
        </p:nvSpPr>
        <p:spPr>
          <a:xfrm>
            <a:off x="5002894" y="1956678"/>
            <a:ext cx="22429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70C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Probabilistisches Modell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A518EE49-40B5-478E-B3A3-52AB3593BDA3}"/>
              </a:ext>
            </a:extLst>
          </p:cNvPr>
          <p:cNvSpPr txBox="1"/>
          <p:nvPr/>
        </p:nvSpPr>
        <p:spPr>
          <a:xfrm>
            <a:off x="4801717" y="2706766"/>
            <a:ext cx="26452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1600" dirty="0">
                <a:solidFill>
                  <a:srgbClr val="0070C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Wahrscheinlichkeitsrechnung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FAEFDA-1490-4232-9697-373920959759}"/>
                  </a:ext>
                </a:extLst>
              </p:cNvPr>
              <p:cNvSpPr txBox="1"/>
              <p:nvPr/>
            </p:nvSpPr>
            <p:spPr>
              <a:xfrm>
                <a:off x="5186727" y="2331722"/>
                <a:ext cx="1875257" cy="33855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d>
                        <m:dPr>
                          <m:ctrlPr>
                            <a:rPr lang="de-DE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de-DE" sz="1600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Ω</m:t>
                          </m:r>
                          <m:r>
                            <a:rPr lang="de-DE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DE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𝒜</m:t>
                          </m:r>
                          <m:r>
                            <a:rPr lang="de-DE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de-DE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ℙ</m:t>
                          </m:r>
                        </m:e>
                      </m:d>
                      <m:r>
                        <a:rPr lang="de-DE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de-DE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𝜉</m:t>
                      </m:r>
                      <m:r>
                        <a:rPr lang="de-DE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:</m:t>
                      </m:r>
                      <m:r>
                        <m:rPr>
                          <m:sty m:val="p"/>
                        </m:rPr>
                        <a:rPr lang="de-DE" sz="160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Ω</m:t>
                      </m:r>
                      <m:r>
                        <a:rPr lang="de-DE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→</m:t>
                      </m:r>
                      <m:r>
                        <a:rPr lang="de-DE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ℝ</m:t>
                      </m:r>
                    </m:oMath>
                  </m:oMathPara>
                </a14:m>
                <a:endParaRPr lang="de-DE" sz="16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6" name="TextBox 15">
                <a:extLst>
                  <a:ext uri="{FF2B5EF4-FFF2-40B4-BE49-F238E27FC236}">
                    <a16:creationId xmlns:a16="http://schemas.microsoft.com/office/drawing/2014/main" id="{ECFAEFDA-1490-4232-9697-37392095975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86727" y="2331722"/>
                <a:ext cx="1875257" cy="338554"/>
              </a:xfrm>
              <a:prstGeom prst="rect">
                <a:avLst/>
              </a:prstGeom>
              <a:blipFill>
                <a:blip r:embed="rId3"/>
                <a:stretch>
                  <a:fillRect b="-9091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A93C44-D71F-4A32-926F-C18F1F158287}"/>
                  </a:ext>
                </a:extLst>
              </p:cNvPr>
              <p:cNvSpPr txBox="1"/>
              <p:nvPr/>
            </p:nvSpPr>
            <p:spPr>
              <a:xfrm>
                <a:off x="5158899" y="3081809"/>
                <a:ext cx="1930913" cy="36478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de-DE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ℙ</m:t>
                          </m:r>
                        </m:e>
                        <m:sub>
                          <m:r>
                            <a:rPr lang="de-DE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sub>
                      </m:sSub>
                      <m:d>
                        <m:dPr>
                          <m:ctrlPr>
                            <a:rPr lang="de-DE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de-DE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𝑆</m:t>
                          </m:r>
                        </m:e>
                      </m:d>
                      <m:r>
                        <a:rPr lang="de-DE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de-DE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ℙ</m:t>
                      </m:r>
                      <m:r>
                        <a:rPr lang="de-DE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sSup>
                        <m:sSupPr>
                          <m:ctrlPr>
                            <a:rPr lang="de-DE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de-DE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𝜉</m:t>
                          </m:r>
                        </m:e>
                        <m:sup>
                          <m:r>
                            <a:rPr lang="de-DE" sz="1600" i="1">
                              <a:solidFill>
                                <a:srgbClr val="0070C0"/>
                              </a:solidFill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  <m:r>
                        <a:rPr lang="de-DE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de-DE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𝑆</m:t>
                      </m:r>
                      <m:r>
                        <a:rPr lang="de-DE" sz="1600" i="1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</a:rPr>
                        <m:t>))</m:t>
                      </m:r>
                    </m:oMath>
                  </m:oMathPara>
                </a14:m>
                <a:endParaRPr lang="de-DE" sz="1600" dirty="0">
                  <a:solidFill>
                    <a:srgbClr val="0070C0"/>
                  </a:solidFill>
                </a:endParaRPr>
              </a:p>
            </p:txBody>
          </p:sp>
        </mc:Choice>
        <mc:Fallback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06A93C44-D71F-4A32-926F-C18F1F15828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158899" y="3081809"/>
                <a:ext cx="1930913" cy="364780"/>
              </a:xfrm>
              <a:prstGeom prst="rect">
                <a:avLst/>
              </a:prstGeom>
              <a:blipFill>
                <a:blip r:embed="rId4"/>
                <a:stretch>
                  <a:fillRect b="-6780"/>
                </a:stretch>
              </a:blipFill>
            </p:spPr>
            <p:txBody>
              <a:bodyPr/>
              <a:lstStyle/>
              <a:p>
                <a:r>
                  <a:rPr lang="de-DE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TextBox 18">
            <a:extLst>
              <a:ext uri="{FF2B5EF4-FFF2-40B4-BE49-F238E27FC236}">
                <a16:creationId xmlns:a16="http://schemas.microsoft.com/office/drawing/2014/main" id="{074E93DD-5B71-40FF-B9D4-3FC68E89DFF2}"/>
              </a:ext>
            </a:extLst>
          </p:cNvPr>
          <p:cNvSpPr txBox="1"/>
          <p:nvPr/>
        </p:nvSpPr>
        <p:spPr>
          <a:xfrm>
            <a:off x="3165302" y="4065561"/>
            <a:ext cx="14205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Modellierung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F69F9A2-AF6B-4647-9D4D-F1D8EFF90738}"/>
              </a:ext>
            </a:extLst>
          </p:cNvPr>
          <p:cNvSpPr txBox="1"/>
          <p:nvPr/>
        </p:nvSpPr>
        <p:spPr>
          <a:xfrm>
            <a:off x="3146032" y="330797"/>
            <a:ext cx="136768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Vorhersagen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50C3C8A-6E76-491D-A5B0-066F6F5F67A9}"/>
              </a:ext>
            </a:extLst>
          </p:cNvPr>
          <p:cNvSpPr txBox="1"/>
          <p:nvPr/>
        </p:nvSpPr>
        <p:spPr>
          <a:xfrm>
            <a:off x="5580777" y="910857"/>
            <a:ext cx="1087157" cy="4770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de-DE" sz="2400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Modell</a:t>
            </a:r>
          </a:p>
        </p:txBody>
      </p:sp>
      <p:grpSp>
        <p:nvGrpSpPr>
          <p:cNvPr id="11" name="Gruppieren 10">
            <a:extLst>
              <a:ext uri="{FF2B5EF4-FFF2-40B4-BE49-F238E27FC236}">
                <a16:creationId xmlns:a16="http://schemas.microsoft.com/office/drawing/2014/main" id="{76F06297-5637-61EA-708F-5AD0F547AC8A}"/>
              </a:ext>
            </a:extLst>
          </p:cNvPr>
          <p:cNvGrpSpPr/>
          <p:nvPr/>
        </p:nvGrpSpPr>
        <p:grpSpPr>
          <a:xfrm>
            <a:off x="477190" y="1558910"/>
            <a:ext cx="1807930" cy="2098738"/>
            <a:chOff x="380365" y="1794409"/>
            <a:chExt cx="2018230" cy="2342865"/>
          </a:xfrm>
        </p:grpSpPr>
        <p:pic>
          <p:nvPicPr>
            <p:cNvPr id="2" name="Grafik 1" descr="Ein Bild, das Im Haus, Mobiliar, Tisch, Kleidung enthält.&#10;&#10;Automatisch generierte Beschreibung">
              <a:extLst>
                <a:ext uri="{FF2B5EF4-FFF2-40B4-BE49-F238E27FC236}">
                  <a16:creationId xmlns:a16="http://schemas.microsoft.com/office/drawing/2014/main" id="{1BFD2DC8-801A-00A1-A115-DCCF84B9794B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14189" y="3199069"/>
              <a:ext cx="938205" cy="938205"/>
            </a:xfrm>
            <a:prstGeom prst="rect">
              <a:avLst/>
            </a:prstGeom>
          </p:spPr>
        </p:pic>
        <p:pic>
          <p:nvPicPr>
            <p:cNvPr id="3" name="Grafik 2" descr="Ein Bild, das Mobiliar, Im Haus, Kleidung, Schuhwerk enthält.&#10;&#10;Automatisch generierte Beschreibung">
              <a:extLst>
                <a:ext uri="{FF2B5EF4-FFF2-40B4-BE49-F238E27FC236}">
                  <a16:creationId xmlns:a16="http://schemas.microsoft.com/office/drawing/2014/main" id="{D95DCB98-3660-CCB0-BFC3-016191598F39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69499" y="3201436"/>
              <a:ext cx="929096" cy="929096"/>
            </a:xfrm>
            <a:prstGeom prst="rect">
              <a:avLst/>
            </a:prstGeom>
          </p:spPr>
        </p:pic>
        <p:pic>
          <p:nvPicPr>
            <p:cNvPr id="23" name="Picture 22" descr="A picture containing remote, controller, indoor, game&#10;&#10;Description automatically generated">
              <a:extLst>
                <a:ext uri="{FF2B5EF4-FFF2-40B4-BE49-F238E27FC236}">
                  <a16:creationId xmlns:a16="http://schemas.microsoft.com/office/drawing/2014/main" id="{4799A0FE-DBF3-44FC-B547-A1A8BF0954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18577" y="1794409"/>
              <a:ext cx="666193" cy="502230"/>
            </a:xfrm>
            <a:prstGeom prst="rect">
              <a:avLst/>
            </a:prstGeom>
          </p:spPr>
        </p:pic>
        <p:pic>
          <p:nvPicPr>
            <p:cNvPr id="34" name="Picture 33" descr="A person working on a computer&#10;&#10;Description automatically generated with low confidence">
              <a:extLst>
                <a:ext uri="{FF2B5EF4-FFF2-40B4-BE49-F238E27FC236}">
                  <a16:creationId xmlns:a16="http://schemas.microsoft.com/office/drawing/2014/main" id="{2DDB4FBC-E6FF-45DA-825C-E36189F7ABF2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380365" y="2411339"/>
              <a:ext cx="1107057" cy="615394"/>
            </a:xfrm>
            <a:prstGeom prst="rect">
              <a:avLst/>
            </a:prstGeom>
          </p:spPr>
        </p:pic>
        <p:pic>
          <p:nvPicPr>
            <p:cNvPr id="37" name="Picture 36" descr="A close up of a roulette wheel&#10;&#10;Description automatically generated with medium confidence">
              <a:extLst>
                <a:ext uri="{FF2B5EF4-FFF2-40B4-BE49-F238E27FC236}">
                  <a16:creationId xmlns:a16="http://schemas.microsoft.com/office/drawing/2014/main" id="{D7607054-71A3-46D2-9A07-46F468FE2002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545975" y="2461823"/>
              <a:ext cx="789472" cy="526315"/>
            </a:xfrm>
            <a:prstGeom prst="rect">
              <a:avLst/>
            </a:prstGeom>
            <a:ln>
              <a:noFill/>
            </a:ln>
            <a:effectLst>
              <a:softEdge rad="112500"/>
            </a:effectLst>
          </p:spPr>
        </p:pic>
        <p:pic>
          <p:nvPicPr>
            <p:cNvPr id="26" name="Picture 25" descr="A picture containing logo&#10;&#10;Description automatically generated">
              <a:extLst>
                <a:ext uri="{FF2B5EF4-FFF2-40B4-BE49-F238E27FC236}">
                  <a16:creationId xmlns:a16="http://schemas.microsoft.com/office/drawing/2014/main" id="{AD6370E4-D950-44DE-ACAE-5858E1218183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grayscl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687647" y="1825191"/>
              <a:ext cx="506127" cy="506128"/>
            </a:xfrm>
            <a:prstGeom prst="rect">
              <a:avLst/>
            </a:prstGeom>
          </p:spPr>
        </p:pic>
      </p:grpSp>
      <p:sp>
        <p:nvSpPr>
          <p:cNvPr id="42" name="Rectangle 41">
            <a:extLst>
              <a:ext uri="{FF2B5EF4-FFF2-40B4-BE49-F238E27FC236}">
                <a16:creationId xmlns:a16="http://schemas.microsoft.com/office/drawing/2014/main" id="{0232B15F-3167-4A3B-8ED0-7D7F53A40B37}"/>
              </a:ext>
            </a:extLst>
          </p:cNvPr>
          <p:cNvSpPr/>
          <p:nvPr/>
        </p:nvSpPr>
        <p:spPr>
          <a:xfrm>
            <a:off x="247412" y="1469996"/>
            <a:ext cx="2231632" cy="2324054"/>
          </a:xfrm>
          <a:prstGeom prst="rect">
            <a:avLst/>
          </a:prstGeom>
          <a:solidFill>
            <a:schemeClr val="bg1">
              <a:alpha val="9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de-DE" dirty="0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326C4DA-8239-4EDD-8E73-20E880E6E7F2}"/>
              </a:ext>
            </a:extLst>
          </p:cNvPr>
          <p:cNvSpPr txBox="1"/>
          <p:nvPr/>
        </p:nvSpPr>
        <p:spPr>
          <a:xfrm>
            <a:off x="678003" y="1571052"/>
            <a:ext cx="1686680" cy="37446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de-DE" dirty="0"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Zufallsvorgänge</a:t>
            </a:r>
            <a:endParaRPr lang="de-DE" sz="1600" dirty="0">
              <a:solidFill>
                <a:srgbClr val="0070C0"/>
              </a:solidFill>
              <a:latin typeface="CMU Sans Serif" panose="02000603000000000000" pitchFamily="2" charset="0"/>
              <a:ea typeface="CMU Sans Serif" panose="02000603000000000000" pitchFamily="2" charset="0"/>
              <a:cs typeface="CMU Sans Serif" panose="02000603000000000000" pitchFamily="2" charset="0"/>
            </a:endParaRP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D48C25C5-3AE9-4AA2-A1DA-E7AE1D5D9094}"/>
              </a:ext>
            </a:extLst>
          </p:cNvPr>
          <p:cNvSpPr txBox="1"/>
          <p:nvPr/>
        </p:nvSpPr>
        <p:spPr>
          <a:xfrm>
            <a:off x="21574" y="2153756"/>
            <a:ext cx="2999539" cy="9387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>
              <a:lnSpc>
                <a:spcPts val="2160"/>
              </a:lnSpc>
            </a:pPr>
            <a:r>
              <a:rPr lang="de-DE" sz="1700" dirty="0">
                <a:solidFill>
                  <a:srgbClr val="0070C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Phänomene, die von Menschen</a:t>
            </a:r>
          </a:p>
          <a:p>
            <a:pPr algn="ctr">
              <a:lnSpc>
                <a:spcPts val="2160"/>
              </a:lnSpc>
            </a:pPr>
            <a:r>
              <a:rPr lang="de-DE" sz="1700" dirty="0">
                <a:solidFill>
                  <a:srgbClr val="0070C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nicht mit absoluter Sicherheit</a:t>
            </a:r>
          </a:p>
          <a:p>
            <a:pPr algn="ctr">
              <a:lnSpc>
                <a:spcPts val="2160"/>
              </a:lnSpc>
            </a:pPr>
            <a:r>
              <a:rPr lang="de-DE" sz="1700" dirty="0">
                <a:solidFill>
                  <a:srgbClr val="0070C0"/>
                </a:solidFill>
                <a:latin typeface="CMU Sans Serif" panose="02000603000000000000" pitchFamily="2" charset="0"/>
                <a:ea typeface="CMU Sans Serif" panose="02000603000000000000" pitchFamily="2" charset="0"/>
                <a:cs typeface="CMU Sans Serif" panose="02000603000000000000" pitchFamily="2" charset="0"/>
              </a:rPr>
              <a:t>vorhergesagt werden können.</a:t>
            </a:r>
            <a:endParaRPr lang="de-DE" sz="1700" dirty="0"/>
          </a:p>
        </p:txBody>
      </p:sp>
    </p:spTree>
    <p:extLst>
      <p:ext uri="{BB962C8B-B14F-4D97-AF65-F5344CB8AC3E}">
        <p14:creationId xmlns:p14="http://schemas.microsoft.com/office/powerpoint/2010/main" val="126322427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– 2022-Design">
  <a:themeElements>
    <a:clrScheme name="Office 2013 – 2022-Design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– 2022-Design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– 2022-Design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0</TotalTime>
  <Words>38</Words>
  <Application>Microsoft Office PowerPoint</Application>
  <PresentationFormat>Benutzerdefiniert</PresentationFormat>
  <Paragraphs>13</Paragraphs>
  <Slides>1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5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1</vt:i4>
      </vt:variant>
    </vt:vector>
  </HeadingPairs>
  <TitlesOfParts>
    <vt:vector size="7" baseType="lpstr">
      <vt:lpstr>Arial</vt:lpstr>
      <vt:lpstr>Calibri</vt:lpstr>
      <vt:lpstr>Calibri Light</vt:lpstr>
      <vt:lpstr>Cambria Math</vt:lpstr>
      <vt:lpstr>CMU Sans Serif</vt:lpstr>
      <vt:lpstr>Office 2013 – 2022-Design</vt:lpstr>
      <vt:lpstr>PowerPoint-Präsentation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Dirk Ostwald</dc:creator>
  <cp:lastModifiedBy>Dirk Ostwald</cp:lastModifiedBy>
  <cp:revision>10</cp:revision>
  <cp:lastPrinted>2021-10-19T07:58:02Z</cp:lastPrinted>
  <dcterms:created xsi:type="dcterms:W3CDTF">2021-10-15T06:13:51Z</dcterms:created>
  <dcterms:modified xsi:type="dcterms:W3CDTF">2025-10-20T07:47:58Z</dcterms:modified>
</cp:coreProperties>
</file>